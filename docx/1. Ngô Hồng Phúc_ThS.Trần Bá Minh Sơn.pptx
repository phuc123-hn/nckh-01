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0B1B3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0B1B3A"/>
                </a:solidFill>
                <a:latin typeface="Arial" panose="020B0604020202020204"/>
              </a:rPr>
              <a:t>So sánh F1 &amp; AUC theo mô hình</a:t>
            </a:r>
            <a:endParaRPr sz="1300" b="0" i="0" u="none" strike="noStrike">
              <a:solidFill>
                <a:srgbClr val="0B1B3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B3E82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0B1B3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LightGBM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0.9395</c:v>
                </c:pt>
                <c:pt idx="1">
                  <c:v>0.9675</c:v>
                </c:pt>
                <c:pt idx="2">
                  <c:v>0.9682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00C2CB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0B1B3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LightGBM</c:v>
                </c:pt>
                <c:pt idx="2">
                  <c:v>XGBoost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0.986</c:v>
                </c:pt>
                <c:pt idx="1">
                  <c:v>0.9938</c:v>
                </c:pt>
                <c:pt idx="2">
                  <c:v>0.9938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B8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B6B8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rgbClr val="5B6B8C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7d1f7cdb-ef81-42ed-896d-78db677051b7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 panose="020B0604020202020204"/>
              </a:rPr>
              <a:t>FPR (%) trước và sau tối ưu</a:t>
            </a:r>
            <a:endParaRPr sz="1200" b="0" i="0" u="none" strike="noStrike">
              <a:solidFill>
                <a:srgbClr val="FFFFFF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FPR</c:v>
                </c:pt>
              </c:strCache>
            </c:strRef>
          </c:tx>
          <c:spPr>
            <a:solidFill>
              <a:srgbClr val="00C2C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Ngưỡng 0,5</c:v>
                </c:pt>
                <c:pt idx="1">
                  <c:v>Ngưỡng τ*=0,627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3.59</c:v>
                </c:pt>
                <c:pt idx="1">
                  <c:v>2.05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3D4C9E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9D3E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2B3E8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3D4C9E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C9D3E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add30cd-1a0c-448e-a84d-47a71820f707}"/>
      </c:ext>
    </c:extLst>
  </c:chart>
  <c:spPr>
    <a:solidFill>
      <a:srgbClr val="0B1B3A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2.png"/><Relationship Id="rId5" Type="http://schemas.openxmlformats.org/officeDocument/2006/relationships/image" Target="../media/image1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9.png"/><Relationship Id="rId2" Type="http://schemas.openxmlformats.org/officeDocument/2006/relationships/image" Target="../media/image12.png"/><Relationship Id="rId1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19.png"/><Relationship Id="rId3" Type="http://schemas.openxmlformats.org/officeDocument/2006/relationships/image" Target="../media/image11.png"/><Relationship Id="rId2" Type="http://schemas.openxmlformats.org/officeDocument/2006/relationships/image" Target="../media/image30.png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645920"/>
            <a:ext cx="5120640" cy="5120640"/>
          </a:xfrm>
          <a:prstGeom prst="ellipse">
            <a:avLst/>
          </a:prstGeom>
          <a:solidFill>
            <a:srgbClr val="2B3E82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0515600" y="3566160"/>
            <a:ext cx="2926080" cy="2926080"/>
          </a:xfrm>
          <a:prstGeom prst="ellipse">
            <a:avLst/>
          </a:prstGeom>
          <a:solidFill>
            <a:srgbClr val="00C2CB">
              <a:alpha val="18000"/>
            </a:srgbClr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48640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2C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VIỆN CÔNG NGHỆ SỐ  ·  TRƯỜNG ĐẠI HỌC THỦ DẦU MỘT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841248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Xây dựng hệ thống hỗ trợ phân tích và phát hiện mã độc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Dựa trên đặc trưng tĩnh và kỹ thuật học máy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58368" y="3703320"/>
            <a:ext cx="2011680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977640"/>
            <a:ext cx="64008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FA3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Sinh viên thực hiện</a:t>
            </a:r>
            <a:endParaRPr lang="en-US" sz="12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Ngô Hồng Phúc  ·  Nguyễn Hoàng Sơn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4800600"/>
            <a:ext cx="64008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FA3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Giảng viên hướng dẫn</a:t>
            </a:r>
            <a:endParaRPr lang="en-US" sz="12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ThS. Trần Bá Minh Sơn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Báo cáo tổng kết đề tài NCKH sinh viên · Năm học 2025–2026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Đặt vấn đề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Mã độc gia tăng nhanh chóng — phương pháp phát hiện truyền thống không còn đủ sức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2514600"/>
          </a:xfrm>
          <a:prstGeom prst="roundRect">
            <a:avLst>
              <a:gd name="adj" fmla="val 2909"/>
            </a:avLst>
          </a:prstGeom>
          <a:solidFill>
            <a:srgbClr val="FDEEEF"/>
          </a:solidFill>
          <a:effectLst>
            <a:outerShdw blurRad="127000" dist="38100" dir="5400000" algn="bl" rotWithShape="0">
              <a:srgbClr val="0B1B3A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73736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1495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Signature Detection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377440"/>
            <a:ext cx="457200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Không phát hiện được tấn công Zero-day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Khó theo kịp biến thể mã độc mới và obfuscation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89320" y="1463040"/>
            <a:ext cx="5623560" cy="2514600"/>
          </a:xfrm>
          <a:prstGeom prst="roundRect">
            <a:avLst>
              <a:gd name="adj" fmla="val 2909"/>
            </a:avLst>
          </a:prstGeom>
          <a:solidFill>
            <a:srgbClr val="0B1B3A"/>
          </a:solidFill>
          <a:effectLst>
            <a:outerShdw blurRad="127000" dist="38100" dir="5400000" algn="bl" rotWithShape="0">
              <a:srgbClr val="0B1B3A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55080" y="1664208"/>
            <a:ext cx="4937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Giải pháp đề xuất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355080" y="2176272"/>
            <a:ext cx="384048" cy="384048"/>
          </a:xfrm>
          <a:prstGeom prst="ellipse">
            <a:avLst/>
          </a:prstGeom>
          <a:solidFill>
            <a:srgbClr val="00C2CB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948" y="2263140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0" y="2121408"/>
            <a:ext cx="4572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 Analysis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858000" y="2414016"/>
            <a:ext cx="4663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6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tích đặc trưng tĩnh từ file PE, không cần thực thi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55080" y="2743200"/>
            <a:ext cx="384048" cy="384048"/>
          </a:xfrm>
          <a:prstGeom prst="ellipse">
            <a:avLst/>
          </a:prstGeom>
          <a:solidFill>
            <a:srgbClr val="00C2CB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948" y="2830068"/>
            <a:ext cx="210312" cy="2103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58000" y="2688336"/>
            <a:ext cx="4572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858000" y="2980944"/>
            <a:ext cx="4663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6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 / LightGBM / Random Forest trên EMBER 2018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355080" y="3310128"/>
            <a:ext cx="384048" cy="384048"/>
          </a:xfrm>
          <a:prstGeom prst="ellipse">
            <a:avLst/>
          </a:prstGeom>
          <a:solidFill>
            <a:srgbClr val="00C2CB"/>
          </a:solidFill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948" y="3396996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58000" y="3255264"/>
            <a:ext cx="4572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Explainable AI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858000" y="3547872"/>
            <a:ext cx="4663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6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 &amp; Import Pattern giải thích quyết định phân loại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548640" y="4251960"/>
            <a:ext cx="4572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Quy trình tổng quát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4617720"/>
            <a:ext cx="2377440" cy="1234440"/>
          </a:xfrm>
          <a:prstGeom prst="roundRect">
            <a:avLst>
              <a:gd name="adj" fmla="val 5185"/>
            </a:avLst>
          </a:prstGeom>
          <a:solidFill>
            <a:srgbClr val="FDEEEF"/>
          </a:solidFill>
          <a:ln w="15875">
            <a:solidFill>
              <a:srgbClr val="E1495B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616" y="4782312"/>
            <a:ext cx="475488" cy="4754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94360" y="5349240"/>
            <a:ext cx="22860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Malware</a:t>
            </a:r>
            <a:endParaRPr lang="en-US" sz="12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808" y="5116068"/>
            <a:ext cx="237744" cy="237744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3383280" y="4617720"/>
            <a:ext cx="2377440" cy="1234440"/>
          </a:xfrm>
          <a:prstGeom prst="roundRect">
            <a:avLst>
              <a:gd name="adj" fmla="val 5185"/>
            </a:avLst>
          </a:prstGeom>
          <a:solidFill>
            <a:srgbClr val="F4F6FB"/>
          </a:solidFill>
          <a:ln w="15875">
            <a:solidFill>
              <a:srgbClr val="2B3E82"/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6" y="4782312"/>
            <a:ext cx="475488" cy="47548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429000" y="5349240"/>
            <a:ext cx="22860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Extraction</a:t>
            </a:r>
            <a:endParaRPr lang="en-US" sz="12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5116068"/>
            <a:ext cx="237744" cy="237744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6217920" y="4617720"/>
            <a:ext cx="2377440" cy="1234440"/>
          </a:xfrm>
          <a:prstGeom prst="roundRect">
            <a:avLst>
              <a:gd name="adj" fmla="val 5185"/>
            </a:avLst>
          </a:prstGeom>
          <a:solidFill>
            <a:srgbClr val="F4F6FB"/>
          </a:solidFill>
          <a:ln w="15875">
            <a:solidFill>
              <a:srgbClr val="2B3E82"/>
            </a:solidFill>
            <a:prstDash val="solid"/>
          </a:ln>
        </p:spPr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8896" y="4782312"/>
            <a:ext cx="475488" cy="47548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6263640" y="5349240"/>
            <a:ext cx="22860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</a:t>
            </a:r>
            <a:endParaRPr lang="en-US" sz="1200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88" y="5116068"/>
            <a:ext cx="237744" cy="237744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052560" y="4617720"/>
            <a:ext cx="2377440" cy="1234440"/>
          </a:xfrm>
          <a:prstGeom prst="roundRect">
            <a:avLst>
              <a:gd name="adj" fmla="val 5185"/>
            </a:avLst>
          </a:prstGeom>
          <a:solidFill>
            <a:srgbClr val="E6FBFB"/>
          </a:solidFill>
          <a:ln w="15875">
            <a:solidFill>
              <a:srgbClr val="00C2CB"/>
            </a:solidFill>
            <a:prstDash val="solid"/>
          </a:ln>
        </p:spPr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3536" y="4782312"/>
            <a:ext cx="475488" cy="47548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9098280" y="5349240"/>
            <a:ext cx="22860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 Result</a:t>
            </a:r>
            <a:endParaRPr lang="en-US" sz="1200" dirty="0"/>
          </a:p>
        </p:txBody>
      </p:sp>
      <p:sp>
        <p:nvSpPr>
          <p:cNvPr id="38" name="Text 25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2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Phát hiện mã độc dựa trên đặc trưng tĩnh &amp; học máy · EMBER 2018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Mục tiêu và đóng góp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Mục tiêu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10896" cy="310896"/>
          </a:xfrm>
          <a:prstGeom prst="ellipse">
            <a:avLst/>
          </a:prstGeom>
          <a:solidFill>
            <a:srgbClr val="F4F6FB"/>
          </a:solidFill>
          <a:ln w="12700">
            <a:solidFill>
              <a:srgbClr val="2B3E8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2020824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892808"/>
            <a:ext cx="4297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Phát hiện malware từ file PE (Portable Executable)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624328"/>
            <a:ext cx="310896" cy="310896"/>
          </a:xfrm>
          <a:prstGeom prst="ellipse">
            <a:avLst/>
          </a:prstGeom>
          <a:solidFill>
            <a:srgbClr val="F4F6FB"/>
          </a:solidFill>
          <a:ln w="12700">
            <a:solidFill>
              <a:srgbClr val="2B3E82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2679192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551176"/>
            <a:ext cx="4297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Xây dựng ứng dụng web phân tích tương tác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282696"/>
            <a:ext cx="310896" cy="310896"/>
          </a:xfrm>
          <a:prstGeom prst="ellipse">
            <a:avLst/>
          </a:prstGeom>
          <a:solidFill>
            <a:srgbClr val="F4F6FB"/>
          </a:solidFill>
          <a:ln w="12700">
            <a:solidFill>
              <a:srgbClr val="2B3E82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333756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3209544"/>
            <a:ext cx="4297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Giải thích được kết quả phân loại (Explainable AI)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532120" y="1463040"/>
            <a:ext cx="0" cy="4572000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943600" y="14173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 đóng góp chính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5943600" y="1965960"/>
            <a:ext cx="5669280" cy="1298448"/>
          </a:xfrm>
          <a:prstGeom prst="roundRect">
            <a:avLst>
              <a:gd name="adj" fmla="val 4930"/>
            </a:avLst>
          </a:prstGeom>
          <a:solidFill>
            <a:srgbClr val="F4F6FB"/>
          </a:solidFill>
          <a:effectLst>
            <a:outerShdw blurRad="127000" dist="38100" dir="5400000" algn="bl" rotWithShape="0">
              <a:srgbClr val="0B1B3A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144768" y="2167128"/>
            <a:ext cx="548640" cy="548640"/>
          </a:xfrm>
          <a:prstGeom prst="ellipse">
            <a:avLst/>
          </a:prstGeom>
          <a:solidFill>
            <a:srgbClr val="2B3E82"/>
          </a:solidFill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2304288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0" y="2093976"/>
            <a:ext cx="461772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Youden's J Threshold Optimization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858000" y="2532888"/>
            <a:ext cx="46634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Tối ưu ngưỡng phân loại, giảm 43% tỷ lệ cảnh báo nhầm (FPR 3,59% → 2,05%)</a:t>
            </a:r>
            <a:endParaRPr lang="en-US" sz="1080" dirty="0"/>
          </a:p>
        </p:txBody>
      </p:sp>
      <p:sp>
        <p:nvSpPr>
          <p:cNvPr id="20" name="Shape 14"/>
          <p:cNvSpPr/>
          <p:nvPr/>
        </p:nvSpPr>
        <p:spPr>
          <a:xfrm>
            <a:off x="5943600" y="3447288"/>
            <a:ext cx="5669280" cy="1298448"/>
          </a:xfrm>
          <a:prstGeom prst="roundRect">
            <a:avLst>
              <a:gd name="adj" fmla="val 4930"/>
            </a:avLst>
          </a:prstGeom>
          <a:solidFill>
            <a:srgbClr val="F4F6FB"/>
          </a:solidFill>
          <a:effectLst>
            <a:outerShdw blurRad="127000" dist="38100" dir="5400000" algn="bl" rotWithShape="0">
              <a:srgbClr val="0B1B3A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144768" y="3648456"/>
            <a:ext cx="548640" cy="548640"/>
          </a:xfrm>
          <a:prstGeom prst="ellipse">
            <a:avLst/>
          </a:prstGeom>
          <a:solidFill>
            <a:srgbClr val="2B3E82"/>
          </a:solidFill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3785616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58000" y="3575304"/>
            <a:ext cx="461772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 + Evidence Aggregation Framework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6858000" y="4014216"/>
            <a:ext cx="46634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Kết hợp SHAP per-sample với 5 chỉ số bằng chứng liên tục để giải thích quyết định</a:t>
            </a:r>
            <a:endParaRPr lang="en-US" sz="1080" dirty="0"/>
          </a:p>
        </p:txBody>
      </p:sp>
      <p:sp>
        <p:nvSpPr>
          <p:cNvPr id="25" name="Shape 18"/>
          <p:cNvSpPr/>
          <p:nvPr/>
        </p:nvSpPr>
        <p:spPr>
          <a:xfrm>
            <a:off x="5943600" y="4928616"/>
            <a:ext cx="5669280" cy="1298448"/>
          </a:xfrm>
          <a:prstGeom prst="roundRect">
            <a:avLst>
              <a:gd name="adj" fmla="val 4930"/>
            </a:avLst>
          </a:prstGeom>
          <a:solidFill>
            <a:srgbClr val="F4F6FB"/>
          </a:solidFill>
          <a:effectLst>
            <a:outerShdw blurRad="127000" dist="38100" dir="5400000" algn="bl" rotWithShape="0">
              <a:srgbClr val="0B1B3A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144768" y="5129784"/>
            <a:ext cx="548640" cy="548640"/>
          </a:xfrm>
          <a:prstGeom prst="ellipse">
            <a:avLst/>
          </a:prstGeom>
          <a:solidFill>
            <a:srgbClr val="2B3E82"/>
          </a:solidFill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5266944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58000" y="5056632"/>
            <a:ext cx="461772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 Pattern Engine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6858000" y="5495544"/>
            <a:ext cx="46634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Phân loại API theo 8 danh mục MITRE ATT&amp;CK, coverage 45,1% trên mẫu mã độc</a:t>
            </a:r>
            <a:endParaRPr lang="en-US" sz="1080" dirty="0"/>
          </a:p>
        </p:txBody>
      </p:sp>
      <p:sp>
        <p:nvSpPr>
          <p:cNvPr id="30" name="Text 22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Phát hiện mã độc dựa trên đặc trưng tĩnh &amp; học máy · EMBER 2018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Kiến trúc hệ thống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Hai thành phần độc lập, trao đổi qua file model đã huấn luyện (.pkl)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78992"/>
          </a:xfrm>
          <a:prstGeom prst="roundRect">
            <a:avLst>
              <a:gd name="adj" fmla="val 5932"/>
            </a:avLst>
          </a:prstGeom>
          <a:solidFill>
            <a:srgbClr val="2B3E82"/>
          </a:solidFill>
          <a:effectLst>
            <a:outerShdw blurRad="127000" dist="38100" dir="5400000" algn="bl" rotWithShape="0">
              <a:srgbClr val="0B1B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01368"/>
            <a:ext cx="585216" cy="585216"/>
          </a:xfrm>
          <a:prstGeom prst="ellipse">
            <a:avLst/>
          </a:prstGeom>
          <a:solidFill>
            <a:srgbClr val="00C2CB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94767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00784"/>
            <a:ext cx="9601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TẦNG 1 — Data &amp; Training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066544"/>
            <a:ext cx="969264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EMBER 2018 → Tiền xử lý → Train 3 model (5-Fold CV) → models/*.pkl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744" y="2674620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2953512"/>
            <a:ext cx="11064240" cy="1078992"/>
          </a:xfrm>
          <a:prstGeom prst="roundRect">
            <a:avLst>
              <a:gd name="adj" fmla="val 5932"/>
            </a:avLst>
          </a:prstGeom>
          <a:solidFill>
            <a:srgbClr val="0B1B3A"/>
          </a:solidFill>
          <a:effectLst>
            <a:outerShdw blurRad="127000" dist="38100" dir="5400000" algn="bl" rotWithShape="0">
              <a:srgbClr val="0B1B3A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22960" y="3200400"/>
            <a:ext cx="585216" cy="585216"/>
          </a:xfrm>
          <a:prstGeom prst="ellipse">
            <a:avLst/>
          </a:prstGeom>
          <a:solidFill>
            <a:srgbClr val="00C2CB"/>
          </a:solidFill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346704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45920" y="3099816"/>
            <a:ext cx="9601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TẦNG 2 — Model Server (Flask)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645920" y="3465576"/>
            <a:ext cx="969264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 PE → Extract 2.381 features → Predict (XGBoost + Youden's J + SHAP)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744" y="4073652"/>
            <a:ext cx="256032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48640" y="4352544"/>
            <a:ext cx="11064240" cy="1078992"/>
          </a:xfrm>
          <a:prstGeom prst="roundRect">
            <a:avLst>
              <a:gd name="adj" fmla="val 5932"/>
            </a:avLst>
          </a:prstGeom>
          <a:solidFill>
            <a:srgbClr val="1D2E5C"/>
          </a:solidFill>
          <a:effectLst>
            <a:outerShdw blurRad="127000" dist="38100" dir="5400000" algn="bl" rotWithShape="0">
              <a:srgbClr val="0B1B3A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22960" y="4599432"/>
            <a:ext cx="585216" cy="585216"/>
          </a:xfrm>
          <a:prstGeom prst="ellipse">
            <a:avLst/>
          </a:prstGeom>
          <a:solidFill>
            <a:srgbClr val="00C2CB"/>
          </a:solidFill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745736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645920" y="4498848"/>
            <a:ext cx="9601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TẦNG 3 — Web Frontend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1645920" y="4864608"/>
            <a:ext cx="969264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file PE → Chat log thời gian thực → Verdict, Evidence, SHAP, Import Pattern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Phát hiện mã độc dựa trên đặc trưng tĩnh &amp; học máy · EMBER 2018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Quy trình xử lý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Từ khi người dùng upload file PE đến khi nhận kết quả giải thích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31724" y="2194560"/>
            <a:ext cx="1417320" cy="155448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effectLst>
            <a:outerShdw blurRad="127000" dist="38100" dir="5400000" algn="bl" rotWithShape="0">
              <a:srgbClr val="0B1B3A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928" y="2414016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7444" y="2971800"/>
            <a:ext cx="132588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044" y="2871216"/>
            <a:ext cx="201168" cy="2011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150212" y="2194560"/>
            <a:ext cx="1417320" cy="155448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effectLst>
            <a:outerShdw blurRad="127000" dist="38100" dir="5400000" algn="bl" rotWithShape="0">
              <a:srgbClr val="0B1B3A">
                <a:alpha val="12000"/>
              </a:srgbClr>
            </a:outerShdw>
          </a:effectLst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416" y="2414016"/>
            <a:ext cx="438912" cy="4389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95932" y="2971800"/>
            <a:ext cx="132588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532" y="2871216"/>
            <a:ext cx="201168" cy="201168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768700" y="2194560"/>
            <a:ext cx="1417320" cy="155448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effectLst>
            <a:outerShdw blurRad="127000" dist="38100" dir="5400000" algn="bl" rotWithShape="0">
              <a:srgbClr val="0B1B3A">
                <a:alpha val="12000"/>
              </a:srgbClr>
            </a:outerShdw>
          </a:effectLst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7904" y="2414016"/>
            <a:ext cx="438912" cy="43891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814420" y="2971800"/>
            <a:ext cx="132588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</a:t>
            </a:r>
            <a:endParaRPr lang="en-US" sz="11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020" y="2871216"/>
            <a:ext cx="201168" cy="201168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5387188" y="2194560"/>
            <a:ext cx="1417320" cy="155448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effectLst>
            <a:outerShdw blurRad="127000" dist="38100" dir="5400000" algn="bl" rotWithShape="0">
              <a:srgbClr val="0B1B3A">
                <a:alpha val="12000"/>
              </a:srgbClr>
            </a:outerShdw>
          </a:effectLst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92" y="2414016"/>
            <a:ext cx="438912" cy="438912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432908" y="2971800"/>
            <a:ext cx="132588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</a:t>
            </a:r>
            <a:endParaRPr lang="en-US" sz="115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508" y="2871216"/>
            <a:ext cx="201168" cy="201168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7005676" y="2194560"/>
            <a:ext cx="1417320" cy="1554480"/>
          </a:xfrm>
          <a:prstGeom prst="roundRect">
            <a:avLst>
              <a:gd name="adj" fmla="val 5161"/>
            </a:avLst>
          </a:prstGeom>
          <a:solidFill>
            <a:srgbClr val="0B1B3A"/>
          </a:solidFill>
          <a:effectLst>
            <a:outerShdw blurRad="127000" dist="38100" dir="5400000" algn="bl" rotWithShape="0">
              <a:srgbClr val="0B1B3A">
                <a:alpha val="12000"/>
              </a:srgbClr>
            </a:outerShdw>
          </a:effectLst>
        </p:spPr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4880" y="2414016"/>
            <a:ext cx="438912" cy="438912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7051396" y="2971800"/>
            <a:ext cx="132588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</a:t>
            </a:r>
            <a:endParaRPr lang="en-US" sz="115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996" y="2871216"/>
            <a:ext cx="201168" cy="201168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8624164" y="2194560"/>
            <a:ext cx="1417320" cy="1554480"/>
          </a:xfrm>
          <a:prstGeom prst="roundRect">
            <a:avLst>
              <a:gd name="adj" fmla="val 5161"/>
            </a:avLst>
          </a:prstGeom>
          <a:solidFill>
            <a:srgbClr val="0B1B3A"/>
          </a:solidFill>
          <a:effectLst>
            <a:outerShdw blurRad="127000" dist="38100" dir="5400000" algn="bl" rotWithShape="0">
              <a:srgbClr val="0B1B3A">
                <a:alpha val="12000"/>
              </a:srgbClr>
            </a:outerShdw>
          </a:effectLst>
        </p:spPr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3368" y="2414016"/>
            <a:ext cx="438912" cy="43891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669884" y="2971800"/>
            <a:ext cx="132588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Explanation</a:t>
            </a:r>
            <a:endParaRPr lang="en-US" sz="1150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484" y="2871216"/>
            <a:ext cx="201168" cy="201168"/>
          </a:xfrm>
          <a:prstGeom prst="rect">
            <a:avLst/>
          </a:prstGeom>
        </p:spPr>
      </p:pic>
      <p:sp>
        <p:nvSpPr>
          <p:cNvPr id="28" name="Shape 14"/>
          <p:cNvSpPr/>
          <p:nvPr/>
        </p:nvSpPr>
        <p:spPr>
          <a:xfrm>
            <a:off x="10242652" y="2194560"/>
            <a:ext cx="1417320" cy="1554480"/>
          </a:xfrm>
          <a:prstGeom prst="roundRect">
            <a:avLst>
              <a:gd name="adj" fmla="val 5161"/>
            </a:avLst>
          </a:prstGeom>
          <a:solidFill>
            <a:srgbClr val="0B1B3A"/>
          </a:solidFill>
          <a:effectLst>
            <a:outerShdw blurRad="127000" dist="38100" dir="5400000" algn="bl" rotWithShape="0">
              <a:srgbClr val="0B1B3A">
                <a:alpha val="12000"/>
              </a:srgbClr>
            </a:outerShdw>
          </a:effectLst>
        </p:spPr>
      </p:sp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31856" y="2414016"/>
            <a:ext cx="438912" cy="438912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10288372" y="2971800"/>
            <a:ext cx="132588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</a:t>
            </a:r>
            <a:endParaRPr lang="en-US" sz="1150" dirty="0"/>
          </a:p>
        </p:txBody>
      </p:sp>
      <p:sp>
        <p:nvSpPr>
          <p:cNvPr id="31" name="Text 16"/>
          <p:cNvSpPr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Mỗi bước xử lý và trả kết quả về giao diện qua Server-Sent Events (SSE) theo thời gian thực.</a:t>
            </a:r>
            <a:endParaRPr lang="en-US" sz="1250" dirty="0"/>
          </a:p>
        </p:txBody>
      </p:sp>
      <p:sp>
        <p:nvSpPr>
          <p:cNvPr id="32" name="Text 17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1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Phát hiện mã độc dựa trên đặc trưng tĩnh &amp; học máy · EMBER 2018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Website Demo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Ứng dụng web Flask — giao diện tương tác thời gian thực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Phát hiện mã độc dựa trên đặc trưng tĩnh &amp; học máy · EMBER 2018</a:t>
            </a:r>
            <a:endParaRPr lang="en-US" sz="900" dirty="0"/>
          </a:p>
        </p:txBody>
      </p:sp>
      <p:pic>
        <p:nvPicPr>
          <p:cNvPr id="32" name="Picture 31" descr="Screenshot 2026-06-30 1937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775" y="1495425"/>
            <a:ext cx="8229600" cy="4416207"/>
          </a:xfrm>
          <a:prstGeom prst="rect">
            <a:avLst/>
          </a:prstGeom>
        </p:spPr>
      </p:pic>
      <p:pic>
        <p:nvPicPr>
          <p:cNvPr id="33" name="Picture 32" descr="Screenshot 2026-06-30 1939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775" y="1489710"/>
            <a:ext cx="8229600" cy="4427696"/>
          </a:xfrm>
          <a:prstGeom prst="rect">
            <a:avLst/>
          </a:prstGeom>
        </p:spPr>
      </p:pic>
      <p:pic>
        <p:nvPicPr>
          <p:cNvPr id="34" name="Picture 33" descr="Screenshot 2026-06-30 1939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775" y="1479550"/>
            <a:ext cx="8229600" cy="44474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Kết quả mô hình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Đánh giá trên tập kiểm thử độc lập — 200.000 mẫu (EMBER 2018)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1554480"/>
          <a:ext cx="5120640" cy="201168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371600"/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F1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AUC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Random Forest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0.9395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0.9860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LightGBM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0.9675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0.9938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213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XGBoost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6213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0.9682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6213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0.9938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94760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E6FBF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941064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3794760"/>
            <a:ext cx="43891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 được chọn làm mô hình production</a:t>
            </a:r>
            <a:endParaRPr lang="en-US" sz="1250" dirty="0"/>
          </a:p>
        </p:txBody>
      </p:sp>
      <p:sp>
        <p:nvSpPr>
          <p:cNvPr id="4" name="Shape 4"/>
          <p:cNvSpPr/>
          <p:nvPr/>
        </p:nvSpPr>
        <p:spPr>
          <a:xfrm>
            <a:off x="548640" y="4572000"/>
            <a:ext cx="5120640" cy="1417320"/>
          </a:xfrm>
          <a:prstGeom prst="roundRect">
            <a:avLst>
              <a:gd name="adj" fmla="val 4516"/>
            </a:avLst>
          </a:prstGeom>
          <a:solidFill>
            <a:srgbClr val="0B1B3A"/>
          </a:solidFill>
          <a:effectLst>
            <a:outerShdw blurRad="127000" dist="38100" dir="5400000" algn="bl" rotWithShape="0">
              <a:srgbClr val="0B1B3A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4736592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A3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Holdout Stability Test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68680" y="5029200"/>
            <a:ext cx="2926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2C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std F1 = 0,00023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868680" y="5596128"/>
            <a:ext cx="2926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6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 8 random seed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50749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160520" y="5468112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Không overfitting</a:t>
            </a:r>
            <a:endParaRPr lang="en-US" sz="105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5943600" y="1554480"/>
          <a:ext cx="56692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" name="Text 9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Phát hiện mã độc dựa trên đặc trưng tĩnh &amp; học máy · EMBER 2018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Threshold Optimization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9C6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Youden's J Statistic áp dụng cho XGBoost (τ* = 0,627)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A3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Positive Rate (FPR)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29260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9FB0D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3,59%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2926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ngưỡng mặc định 0,5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5146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80560" y="2194560"/>
            <a:ext cx="29260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0C2C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2,05%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4480560" y="31546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ngưỡng tối ưu τ* = 0,627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863840" y="201168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00C2CB"/>
          </a:solidFill>
        </p:spPr>
      </p:sp>
      <p:sp>
        <p:nvSpPr>
          <p:cNvPr id="11" name="Text 8"/>
          <p:cNvSpPr/>
          <p:nvPr/>
        </p:nvSpPr>
        <p:spPr>
          <a:xfrm>
            <a:off x="7863840" y="2148840"/>
            <a:ext cx="3703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GIẢM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0" y="2377440"/>
            <a:ext cx="37033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B1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43%</a:t>
            </a:r>
            <a:endParaRPr lang="en-US" sz="46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640080" y="3794760"/>
          <a:ext cx="51206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4" name="Shape 10"/>
          <p:cNvSpPr/>
          <p:nvPr/>
        </p:nvSpPr>
        <p:spPr>
          <a:xfrm>
            <a:off x="6035040" y="3794760"/>
            <a:ext cx="5532120" cy="2468880"/>
          </a:xfrm>
          <a:prstGeom prst="roundRect">
            <a:avLst>
              <a:gd name="adj" fmla="val 2963"/>
            </a:avLst>
          </a:prstGeom>
          <a:solidFill>
            <a:srgbClr val="2B3E82"/>
          </a:solidFill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0690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95160" y="4023360"/>
            <a:ext cx="4434840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Không thay đổi mô hình, nhưng tối ưu ngưỡng phân loại giúp giảm đáng kể số cảnh báo nhầm — quan trọng trong triển khai thực tế.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55080" y="5532120"/>
            <a:ext cx="50292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FNR (τ*) = 4,24%  ·  giữ khả năng bắt mã độc ở mức cao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Phát hiện mã độc dựa trên đặc trưng tĩnh &amp; học máy · EMBER 2018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Explainable AI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789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Hai lớp giải thích: SHAP (per-sample) và Import Pattern (ngữ nghĩa tấn công)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4F6FB"/>
          </a:solidFill>
          <a:effectLst>
            <a:outerShdw blurRad="127000" dist="38100" dir="5400000" algn="bl" rotWithShape="0">
              <a:srgbClr val="0B1B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2B3E82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659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28800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SHAP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84632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Vì sao model dự đoán malware — giải thích per-sample dựa trên Shapley value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3246120"/>
            <a:ext cx="4846320" cy="384048"/>
          </a:xfrm>
          <a:prstGeom prst="rect">
            <a:avLst/>
          </a:prstGeom>
          <a:solidFill>
            <a:srgbClr val="00C2CB"/>
          </a:solidFill>
        </p:spPr>
      </p:sp>
      <p:sp>
        <p:nvSpPr>
          <p:cNvPr id="10" name="Text 7"/>
          <p:cNvSpPr/>
          <p:nvPr/>
        </p:nvSpPr>
        <p:spPr>
          <a:xfrm>
            <a:off x="914400" y="2953512"/>
            <a:ext cx="4663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feat_637 — COFF Characteristics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42432" y="3273552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0.514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22960" y="3977640"/>
            <a:ext cx="4808605" cy="384048"/>
          </a:xfrm>
          <a:prstGeom prst="rect">
            <a:avLst/>
          </a:prstGeom>
          <a:solidFill>
            <a:srgbClr val="00C2CB"/>
          </a:solidFill>
        </p:spPr>
      </p:sp>
      <p:sp>
        <p:nvSpPr>
          <p:cNvPr id="13" name="Text 10"/>
          <p:cNvSpPr/>
          <p:nvPr/>
        </p:nvSpPr>
        <p:spPr>
          <a:xfrm>
            <a:off x="914400" y="3685032"/>
            <a:ext cx="4663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feat_2359 — TLS Table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704717" y="4005072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0.510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22960" y="4709160"/>
            <a:ext cx="3252880" cy="384048"/>
          </a:xfrm>
          <a:prstGeom prst="rect">
            <a:avLst/>
          </a:prstGeom>
          <a:solidFill>
            <a:srgbClr val="00C2CB"/>
          </a:solidFill>
        </p:spPr>
      </p:sp>
      <p:sp>
        <p:nvSpPr>
          <p:cNvPr id="16" name="Text 13"/>
          <p:cNvSpPr/>
          <p:nvPr/>
        </p:nvSpPr>
        <p:spPr>
          <a:xfrm>
            <a:off x="914400" y="4416552"/>
            <a:ext cx="4663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feat_691 — Section Info (entropy)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148992" y="4736592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0.345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22960" y="5577840"/>
            <a:ext cx="484632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feature: TLS callback (anti-analysis) — mô hình học đúng tín hiệu bảo mật thật, không phải nhiễu.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17920" y="15544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0B1B3A"/>
          </a:solidFill>
          <a:effectLst>
            <a:outerShdw blurRad="127000" dist="38100" dir="5400000" algn="bl" rotWithShape="0">
              <a:srgbClr val="0B1B3A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92240" y="1828800"/>
            <a:ext cx="548640" cy="548640"/>
          </a:xfrm>
          <a:prstGeom prst="ellipse">
            <a:avLst/>
          </a:prstGeom>
          <a:solidFill>
            <a:srgbClr val="00C2CB"/>
          </a:solidFill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96596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178040" y="1828800"/>
            <a:ext cx="4297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Import Pattern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6492240" y="2606040"/>
            <a:ext cx="4892040" cy="438912"/>
          </a:xfrm>
          <a:prstGeom prst="roundRect">
            <a:avLst>
              <a:gd name="adj" fmla="val 10417"/>
            </a:avLst>
          </a:prstGeom>
          <a:solidFill>
            <a:srgbClr val="2B3E82"/>
          </a:solidFill>
        </p:spPr>
      </p:sp>
      <p:sp>
        <p:nvSpPr>
          <p:cNvPr id="24" name="Text 20"/>
          <p:cNvSpPr/>
          <p:nvPr/>
        </p:nvSpPr>
        <p:spPr>
          <a:xfrm>
            <a:off x="6675120" y="2606040"/>
            <a:ext cx="45720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VirtualAllocEx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492240" y="3172968"/>
            <a:ext cx="4892040" cy="438912"/>
          </a:xfrm>
          <a:prstGeom prst="roundRect">
            <a:avLst>
              <a:gd name="adj" fmla="val 10417"/>
            </a:avLst>
          </a:prstGeom>
          <a:solidFill>
            <a:srgbClr val="2B3E82"/>
          </a:solidFill>
        </p:spPr>
      </p:sp>
      <p:sp>
        <p:nvSpPr>
          <p:cNvPr id="26" name="Text 22"/>
          <p:cNvSpPr/>
          <p:nvPr/>
        </p:nvSpPr>
        <p:spPr>
          <a:xfrm>
            <a:off x="6675120" y="3172968"/>
            <a:ext cx="45720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WriteProcessMemory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492240" y="3739896"/>
            <a:ext cx="4892040" cy="438912"/>
          </a:xfrm>
          <a:prstGeom prst="roundRect">
            <a:avLst>
              <a:gd name="adj" fmla="val 10417"/>
            </a:avLst>
          </a:prstGeom>
          <a:solidFill>
            <a:srgbClr val="2B3E82"/>
          </a:solidFill>
        </p:spPr>
      </p:sp>
      <p:sp>
        <p:nvSpPr>
          <p:cNvPr id="28" name="Text 24"/>
          <p:cNvSpPr/>
          <p:nvPr/>
        </p:nvSpPr>
        <p:spPr>
          <a:xfrm>
            <a:off x="6675120" y="3739896"/>
            <a:ext cx="45720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CreateRemoteThread</a:t>
            </a:r>
            <a:endParaRPr lang="en-US" sz="125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4325112"/>
            <a:ext cx="274320" cy="27432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6492240" y="4718304"/>
            <a:ext cx="4892040" cy="438912"/>
          </a:xfrm>
          <a:prstGeom prst="roundRect">
            <a:avLst>
              <a:gd name="adj" fmla="val 10417"/>
            </a:avLst>
          </a:prstGeom>
          <a:solidFill>
            <a:srgbClr val="00C2CB"/>
          </a:solidFill>
        </p:spPr>
      </p:sp>
      <p:sp>
        <p:nvSpPr>
          <p:cNvPr id="31" name="Text 26"/>
          <p:cNvSpPr/>
          <p:nvPr/>
        </p:nvSpPr>
        <p:spPr>
          <a:xfrm>
            <a:off x="6675120" y="4718304"/>
            <a:ext cx="45720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MITRE ATT&amp;CK  ·  T1055 Process Injection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492240" y="5404104"/>
            <a:ext cx="48920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C9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Giải thích dễ hiểu cho người dùng không chuyên — hiển thị tên API cụ thể thay vì chỉ điểm số.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Phát hiện mã độc dựa trên đặc trưng tĩnh &amp; học máy · EMBER 2018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2B3E82">
              <a:alpha val="4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Kết luận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C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Đã đạt được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682496"/>
            <a:ext cx="4846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Website Flask hoạt động đầy đủ pipeline, thời gian thực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5915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2304288"/>
            <a:ext cx="4846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XGBoost: F1 = 0,9682  ·  AUC = 0,9938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80944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2926080"/>
            <a:ext cx="4846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Explainable AI: SHAP + Evidence Aggregation Framework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02736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0120" y="3547872"/>
            <a:ext cx="4846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 Pattern Engine theo MITRE ATT&amp;CK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6035040" y="1371600"/>
            <a:ext cx="0" cy="4572000"/>
          </a:xfrm>
          <a:prstGeom prst="line">
            <a:avLst/>
          </a:prstGeom>
          <a:noFill/>
          <a:ln w="12700">
            <a:solidFill>
              <a:srgbClr val="2B3E82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C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Hướng phát triển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0" y="1783080"/>
            <a:ext cx="402336" cy="402336"/>
          </a:xfrm>
          <a:prstGeom prst="ellipse">
            <a:avLst/>
          </a:prstGeom>
          <a:solidFill>
            <a:srgbClr val="2B3E82"/>
          </a:solidFill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1883664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949440" y="1764792"/>
            <a:ext cx="42976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C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Analysis &amp; Sandbox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6400800" y="2386584"/>
            <a:ext cx="402336" cy="402336"/>
          </a:xfrm>
          <a:prstGeom prst="ellipse">
            <a:avLst/>
          </a:prstGeom>
          <a:solidFill>
            <a:srgbClr val="2B3E82"/>
          </a:solidFill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2487168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49440" y="2368296"/>
            <a:ext cx="42976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C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6400800" y="2990088"/>
            <a:ext cx="402336" cy="402336"/>
          </a:xfrm>
          <a:prstGeom prst="ellipse">
            <a:avLst/>
          </a:prstGeom>
          <a:solidFill>
            <a:srgbClr val="2B3E82"/>
          </a:solidFill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3090672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949440" y="2971800"/>
            <a:ext cx="42976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C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Tích hợp LLM thật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6400800" y="3593592"/>
            <a:ext cx="402336" cy="402336"/>
          </a:xfrm>
          <a:prstGeom prst="ellipse">
            <a:avLst/>
          </a:prstGeom>
          <a:solidFill>
            <a:srgbClr val="2B3E82"/>
          </a:solidFill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3694176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949440" y="3575304"/>
            <a:ext cx="42976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C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Deployment</a:t>
            </a:r>
            <a:endParaRPr lang="en-US" sz="1300" dirty="0"/>
          </a:p>
        </p:txBody>
      </p:sp>
      <p:sp>
        <p:nvSpPr>
          <p:cNvPr id="27" name="Text 17"/>
          <p:cNvSpPr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A3D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Cảm ơn Hội đồng đã lắng nghe.</a:t>
            </a:r>
            <a:endParaRPr lang="en-US" sz="1400" dirty="0"/>
          </a:p>
        </p:txBody>
      </p:sp>
      <p:sp>
        <p:nvSpPr>
          <p:cNvPr id="28" name="Text 18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  <p:sp>
        <p:nvSpPr>
          <p:cNvPr id="29" name="Text 1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E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Phát hiện mã độc dựa trên đặc trưng tĩnh &amp; học máy · EMBER 2018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4043</Words>
  <Application>WPS Presentation</Application>
  <PresentationFormat>On-screen Show (16:9)</PresentationFormat>
  <Paragraphs>268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Xây dựng hệ thống hỗ trợ phân tích và phát hiện mã độc</dc:title>
  <dc:creator>Ngô Hồng Phúc, Nguyễn Hoàng Sơn</dc:creator>
  <dc:subject>PptxGenJS Presentation</dc:subject>
  <cp:lastModifiedBy>Danh Vô</cp:lastModifiedBy>
  <cp:revision>4</cp:revision>
  <dcterms:created xsi:type="dcterms:W3CDTF">2026-07-07T11:50:00Z</dcterms:created>
  <dcterms:modified xsi:type="dcterms:W3CDTF">2026-07-11T10:22:46Z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8F1AA612752B46DCAE6BE83DE3F87D03_13</vt:lpwstr>
  </property>
</Properties>
</file>